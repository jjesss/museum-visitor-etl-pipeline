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IBM Plex Sans"/>
      <p:regular r:id="rId15"/>
      <p:bold r:id="rId16"/>
      <p:italic r:id="rId17"/>
      <p:boldItalic r:id="rId18"/>
    </p:embeddedFont>
    <p:embeddedFont>
      <p:font typeface="Sora SemiBold"/>
      <p:regular r:id="rId19"/>
      <p:bold r:id="rId20"/>
    </p:embeddedFont>
    <p:embeddedFont>
      <p:font typeface="Roboto"/>
      <p:regular r:id="rId21"/>
      <p:bold r:id="rId22"/>
      <p:italic r:id="rId23"/>
      <p:boldItalic r:id="rId24"/>
    </p:embeddedFont>
    <p:embeddedFont>
      <p:font typeface="IBM Plex Sans Medium"/>
      <p:regular r:id="rId25"/>
      <p:bold r:id="rId26"/>
      <p:italic r:id="rId27"/>
      <p:boldItalic r:id="rId28"/>
    </p:embeddedFont>
    <p:embeddedFont>
      <p:font typeface="Sora Light"/>
      <p:regular r:id="rId29"/>
      <p:bold r:id="rId30"/>
    </p:embeddedFont>
    <p:embeddedFont>
      <p:font typeface="Sora ExtraLight"/>
      <p:regular r:id="rId31"/>
      <p:bold r:id="rId32"/>
    </p:embeddedFont>
    <p:embeddedFont>
      <p:font typeface="Sora"/>
      <p:regular r:id="rId33"/>
      <p:bold r:id="rId34"/>
    </p:embeddedFont>
    <p:embeddedFont>
      <p:font typeface="Sora Medium"/>
      <p:regular r:id="rId35"/>
      <p:bold r:id="rId36"/>
    </p:embeddedFont>
    <p:embeddedFont>
      <p:font typeface="IBM Plex Sans SemiBold"/>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raExtraLight-regular.fntdata"/><Relationship Id="rId30" Type="http://schemas.openxmlformats.org/officeDocument/2006/relationships/font" Target="fonts/SoraLight-bold.fntdata"/><Relationship Id="rId33" Type="http://schemas.openxmlformats.org/officeDocument/2006/relationships/font" Target="fonts/Sora-regular.fntdata"/><Relationship Id="rId32" Type="http://schemas.openxmlformats.org/officeDocument/2006/relationships/font" Target="fonts/SoraExtraLight-bold.fntdata"/><Relationship Id="rId35" Type="http://schemas.openxmlformats.org/officeDocument/2006/relationships/font" Target="fonts/SoraMedium-regular.fntdata"/><Relationship Id="rId34" Type="http://schemas.openxmlformats.org/officeDocument/2006/relationships/font" Target="fonts/Sora-bold.fntdata"/><Relationship Id="rId37" Type="http://schemas.openxmlformats.org/officeDocument/2006/relationships/font" Target="fonts/IBMPlexSansSemiBold-regular.fntdata"/><Relationship Id="rId36" Type="http://schemas.openxmlformats.org/officeDocument/2006/relationships/font" Target="fonts/SoraMedium-bold.fntdata"/><Relationship Id="rId39" Type="http://schemas.openxmlformats.org/officeDocument/2006/relationships/font" Target="fonts/IBMPlexSansSemiBold-italic.fntdata"/><Relationship Id="rId38" Type="http://schemas.openxmlformats.org/officeDocument/2006/relationships/font" Target="fonts/IBMPlexSansSemiBold-bold.fntdata"/><Relationship Id="rId20" Type="http://schemas.openxmlformats.org/officeDocument/2006/relationships/font" Target="fonts/SoraSemiBold-bold.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26" Type="http://schemas.openxmlformats.org/officeDocument/2006/relationships/font" Target="fonts/IBMPlexSansMedium-bold.fntdata"/><Relationship Id="rId25" Type="http://schemas.openxmlformats.org/officeDocument/2006/relationships/font" Target="fonts/IBMPlexSansMedium-regular.fntdata"/><Relationship Id="rId28" Type="http://schemas.openxmlformats.org/officeDocument/2006/relationships/font" Target="fonts/IBMPlexSansMedium-boldItalic.fntdata"/><Relationship Id="rId27" Type="http://schemas.openxmlformats.org/officeDocument/2006/relationships/font" Target="fonts/IBMPlexSansMedium-italic.fntdata"/><Relationship Id="rId29" Type="http://schemas.openxmlformats.org/officeDocument/2006/relationships/font" Target="fonts/SoraLight-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IBMPlexSans-regular.fntdata"/><Relationship Id="rId14" Type="http://schemas.openxmlformats.org/officeDocument/2006/relationships/slide" Target="slides/slide9.xml"/><Relationship Id="rId17" Type="http://schemas.openxmlformats.org/officeDocument/2006/relationships/font" Target="fonts/IBMPlexSans-italic.fntdata"/><Relationship Id="rId16" Type="http://schemas.openxmlformats.org/officeDocument/2006/relationships/font" Target="fonts/IBMPlexSans-bold.fntdata"/><Relationship Id="rId19" Type="http://schemas.openxmlformats.org/officeDocument/2006/relationships/font" Target="fonts/SoraSemiBold-regular.fntdata"/><Relationship Id="rId18" Type="http://schemas.openxmlformats.org/officeDocument/2006/relationships/font" Target="fonts/IBMPlex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c8669678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c8669678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E8E6E3"/>
                </a:solidFill>
                <a:highlight>
                  <a:srgbClr val="181A1B"/>
                </a:highlight>
                <a:latin typeface="Roboto"/>
                <a:ea typeface="Roboto"/>
                <a:cs typeface="Roboto"/>
                <a:sym typeface="Roboto"/>
              </a:rPr>
              <a:t>LMNH's core mission is 'to provide value to the Liverpool community and the wider public'. As part of this mission, the museum regularly collects data on visitor satisfaction and wellbeing, which is then used to target exhibition development and maintenance</a:t>
            </a:r>
            <a:endParaRPr sz="1200">
              <a:solidFill>
                <a:srgbClr val="E8E6E3"/>
              </a:solidFill>
              <a:highlight>
                <a:srgbClr val="181A1B"/>
              </a:highlight>
              <a:latin typeface="Roboto"/>
              <a:ea typeface="Roboto"/>
              <a:cs typeface="Roboto"/>
              <a:sym typeface="Roboto"/>
            </a:endParaRPr>
          </a:p>
          <a:p>
            <a:pPr indent="0" lvl="0" marL="0" rtl="0" algn="l">
              <a:spcBef>
                <a:spcPts val="0"/>
              </a:spcBef>
              <a:spcAft>
                <a:spcPts val="0"/>
              </a:spcAft>
              <a:buNone/>
            </a:pPr>
            <a:r>
              <a:t/>
            </a:r>
            <a:endParaRPr sz="1200">
              <a:solidFill>
                <a:srgbClr val="E8E6E3"/>
              </a:solidFill>
              <a:highlight>
                <a:srgbClr val="181A1B"/>
              </a:highlight>
              <a:latin typeface="Roboto"/>
              <a:ea typeface="Roboto"/>
              <a:cs typeface="Roboto"/>
              <a:sym typeface="Roboto"/>
            </a:endParaRPr>
          </a:p>
          <a:p>
            <a:pPr indent="0" lvl="0" marL="0" rtl="0" algn="l">
              <a:spcBef>
                <a:spcPts val="0"/>
              </a:spcBef>
              <a:spcAft>
                <a:spcPts val="0"/>
              </a:spcAft>
              <a:buNone/>
            </a:pPr>
            <a:r>
              <a:rPr lang="en" sz="1200">
                <a:solidFill>
                  <a:srgbClr val="E8E6E3"/>
                </a:solidFill>
                <a:highlight>
                  <a:srgbClr val="181A1B"/>
                </a:highlight>
                <a:latin typeface="Roboto"/>
                <a:ea typeface="Roboto"/>
                <a:cs typeface="Roboto"/>
                <a:sym typeface="Roboto"/>
              </a:rPr>
              <a:t>The kiosks have been placed at the exits of the exhibitions; visitors are asked to rate their experience of the exhibition on a five-point scale (from 😡 to 😀). Each kiosk features two other buttons: an "assistance" button, for general enquiries, and an "emergency" button for immediate support.</a:t>
            </a:r>
            <a:endParaRPr sz="1200">
              <a:solidFill>
                <a:srgbClr val="E8E6E3"/>
              </a:solidFill>
              <a:highlight>
                <a:srgbClr val="181A1B"/>
              </a:highlight>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c8669678a1_0_1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3c8669678a1_0_1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c9c60ea304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3c9c60ea304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c99e65217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3c99e65217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c9c60ea304_1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3c9c60ea304_1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c9c60ea304_1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c9c60ea304_1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c9c60ea304_1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c9c60ea304_1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D6D3CD"/>
                </a:solidFill>
                <a:highlight>
                  <a:srgbClr val="181A1B"/>
                </a:highlight>
              </a:rPr>
              <a:t>Angela - Exhibition Performance:</a:t>
            </a:r>
            <a:endParaRPr sz="1050">
              <a:solidFill>
                <a:srgbClr val="D6D3CD"/>
              </a:solidFill>
              <a:highlight>
                <a:srgbClr val="181A1B"/>
              </a:highlight>
            </a:endParaRPr>
          </a:p>
          <a:p>
            <a:pPr indent="-295275" lvl="0" marL="457200" rtl="0" algn="l">
              <a:lnSpc>
                <a:spcPct val="115000"/>
              </a:lnSpc>
              <a:spcBef>
                <a:spcPts val="600"/>
              </a:spcBef>
              <a:spcAft>
                <a:spcPts val="0"/>
              </a:spcAft>
              <a:buClr>
                <a:srgbClr val="D6D3CD"/>
              </a:buClr>
              <a:buSzPts val="1050"/>
              <a:buChar char="●"/>
            </a:pPr>
            <a:r>
              <a:rPr lang="en" sz="1050">
                <a:solidFill>
                  <a:srgbClr val="D6D3CD"/>
                </a:solidFill>
                <a:highlight>
                  <a:srgbClr val="181A1B"/>
                </a:highlight>
              </a:rPr>
              <a:t>Top performers: Cetacean Sensations (most "Amazing" ratings), Measureless to Man (mostly "Good")</a:t>
            </a:r>
            <a:endParaRPr sz="1050">
              <a:solidFill>
                <a:srgbClr val="D6D3CD"/>
              </a:solidFill>
              <a:highlight>
                <a:srgbClr val="181A1B"/>
              </a:highlight>
            </a:endParaRPr>
          </a:p>
          <a:p>
            <a:pPr indent="-295275" lvl="0" marL="457200" rtl="0" algn="l">
              <a:lnSpc>
                <a:spcPct val="115000"/>
              </a:lnSpc>
              <a:spcBef>
                <a:spcPts val="0"/>
              </a:spcBef>
              <a:spcAft>
                <a:spcPts val="0"/>
              </a:spcAft>
              <a:buClr>
                <a:srgbClr val="D6D3CD"/>
              </a:buClr>
              <a:buSzPts val="1050"/>
              <a:buChar char="●"/>
            </a:pPr>
            <a:r>
              <a:rPr lang="en" sz="1050">
                <a:solidFill>
                  <a:srgbClr val="D6D3CD"/>
                </a:solidFill>
                <a:highlight>
                  <a:srgbClr val="181A1B"/>
                </a:highlight>
              </a:rPr>
              <a:t>Concern: "Neutral" is most common overall - opportunity to elevate experience</a:t>
            </a:r>
            <a:endParaRPr sz="1050">
              <a:solidFill>
                <a:srgbClr val="D6D3CD"/>
              </a:solidFill>
              <a:highlight>
                <a:srgbClr val="181A1B"/>
              </a:highlight>
            </a:endParaRPr>
          </a:p>
          <a:p>
            <a:pPr indent="-295275" lvl="0" marL="457200" rtl="0" algn="l">
              <a:lnSpc>
                <a:spcPct val="115000"/>
              </a:lnSpc>
              <a:spcBef>
                <a:spcPts val="0"/>
              </a:spcBef>
              <a:spcAft>
                <a:spcPts val="0"/>
              </a:spcAft>
              <a:buClr>
                <a:srgbClr val="D6D3CD"/>
              </a:buClr>
              <a:buSzPts val="1050"/>
              <a:buChar char="●"/>
            </a:pPr>
            <a:r>
              <a:rPr lang="en" sz="1050">
                <a:solidFill>
                  <a:srgbClr val="D6D3CD"/>
                </a:solidFill>
                <a:highlight>
                  <a:srgbClr val="181A1B"/>
                </a:highlight>
              </a:rPr>
              <a:t>Action needed: Several exhibitions have "Bad" as most common rating - requires investigation</a:t>
            </a:r>
            <a:endParaRPr sz="1050">
              <a:solidFill>
                <a:srgbClr val="D6D3CD"/>
              </a:solidFill>
              <a:highlight>
                <a:srgbClr val="181A1B"/>
              </a:highlight>
            </a:endParaRPr>
          </a:p>
          <a:p>
            <a:pPr indent="-295275" lvl="0" marL="457200" rtl="0" algn="l">
              <a:lnSpc>
                <a:spcPct val="115000"/>
              </a:lnSpc>
              <a:spcBef>
                <a:spcPts val="0"/>
              </a:spcBef>
              <a:spcAft>
                <a:spcPts val="0"/>
              </a:spcAft>
              <a:buClr>
                <a:srgbClr val="D6D3CD"/>
              </a:buClr>
              <a:buSzPts val="1050"/>
              <a:buChar char="●"/>
            </a:pPr>
            <a:r>
              <a:rPr lang="en" sz="1050">
                <a:solidFill>
                  <a:srgbClr val="D6D3CD"/>
                </a:solidFill>
                <a:highlight>
                  <a:srgbClr val="181A1B"/>
                </a:highlight>
              </a:rPr>
              <a:t>Interesting pattern: Cetacean Sensations had both highest ratings AND most assistance requests - does extra support improve satisfaction?</a:t>
            </a:r>
            <a:endParaRPr sz="1050">
              <a:solidFill>
                <a:srgbClr val="D6D3CD"/>
              </a:solidFill>
              <a:highlight>
                <a:srgbClr val="181A1B"/>
              </a:highlight>
            </a:endParaRPr>
          </a:p>
          <a:p>
            <a:pPr indent="0" lvl="0" marL="0" rtl="0" algn="l">
              <a:spcBef>
                <a:spcPts val="6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c9c60ea304_1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3c9c60ea304_1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D6D3CD"/>
                </a:solidFill>
                <a:highlight>
                  <a:srgbClr val="181A1B"/>
                </a:highlight>
              </a:rPr>
              <a:t>Rita - Safety &amp; Assistance Patterns:</a:t>
            </a:r>
            <a:endParaRPr sz="1050">
              <a:solidFill>
                <a:srgbClr val="D6D3CD"/>
              </a:solidFill>
              <a:highlight>
                <a:srgbClr val="181A1B"/>
              </a:highlight>
            </a:endParaRPr>
          </a:p>
          <a:p>
            <a:pPr indent="-295275" lvl="0" marL="457200" rtl="0" algn="l">
              <a:lnSpc>
                <a:spcPct val="115000"/>
              </a:lnSpc>
              <a:spcBef>
                <a:spcPts val="600"/>
              </a:spcBef>
              <a:spcAft>
                <a:spcPts val="0"/>
              </a:spcAft>
              <a:buClr>
                <a:srgbClr val="D6D3CD"/>
              </a:buClr>
              <a:buSzPts val="1050"/>
              <a:buChar char="●"/>
            </a:pPr>
            <a:r>
              <a:rPr lang="en" sz="1050">
                <a:solidFill>
                  <a:srgbClr val="D6D3CD"/>
                </a:solidFill>
                <a:highlight>
                  <a:srgbClr val="181A1B"/>
                </a:highlight>
              </a:rPr>
              <a:t>Good news: Zero emergency button presses - but is the button visible/accessible enough?</a:t>
            </a:r>
            <a:endParaRPr sz="1050">
              <a:solidFill>
                <a:srgbClr val="D6D3CD"/>
              </a:solidFill>
              <a:highlight>
                <a:srgbClr val="181A1B"/>
              </a:highlight>
            </a:endParaRPr>
          </a:p>
          <a:p>
            <a:pPr indent="-295275" lvl="0" marL="457200" rtl="0" algn="l">
              <a:lnSpc>
                <a:spcPct val="115000"/>
              </a:lnSpc>
              <a:spcBef>
                <a:spcPts val="0"/>
              </a:spcBef>
              <a:spcAft>
                <a:spcPts val="0"/>
              </a:spcAft>
              <a:buClr>
                <a:srgbClr val="D6D3CD"/>
              </a:buClr>
              <a:buSzPts val="1050"/>
              <a:buChar char="●"/>
            </a:pPr>
            <a:r>
              <a:rPr lang="en" sz="1050">
                <a:solidFill>
                  <a:srgbClr val="D6D3CD"/>
                </a:solidFill>
                <a:highlight>
                  <a:srgbClr val="181A1B"/>
                </a:highlight>
              </a:rPr>
              <a:t>Peak assistance times: 9-11am, 12-12:30pm, 2-2:30pm, 4:30-6pm</a:t>
            </a:r>
            <a:endParaRPr sz="1050">
              <a:solidFill>
                <a:srgbClr val="D6D3CD"/>
              </a:solidFill>
              <a:highlight>
                <a:srgbClr val="181A1B"/>
              </a:highlight>
            </a:endParaRPr>
          </a:p>
          <a:p>
            <a:pPr indent="-295275" lvl="0" marL="457200" rtl="0" algn="l">
              <a:lnSpc>
                <a:spcPct val="115000"/>
              </a:lnSpc>
              <a:spcBef>
                <a:spcPts val="0"/>
              </a:spcBef>
              <a:spcAft>
                <a:spcPts val="0"/>
              </a:spcAft>
              <a:buClr>
                <a:srgbClr val="D6D3CD"/>
              </a:buClr>
              <a:buSzPts val="1050"/>
              <a:buChar char="●"/>
            </a:pPr>
            <a:r>
              <a:rPr lang="en" sz="1050">
                <a:solidFill>
                  <a:srgbClr val="D6D3CD"/>
                </a:solidFill>
                <a:highlight>
                  <a:srgbClr val="181A1B"/>
                </a:highlight>
              </a:rPr>
              <a:t>Lowest incidents: Adaptation exhibition - worth studying what they're doing right</a:t>
            </a:r>
            <a:endParaRPr sz="1050">
              <a:solidFill>
                <a:srgbClr val="D6D3CD"/>
              </a:solidFill>
              <a:highlight>
                <a:srgbClr val="181A1B"/>
              </a:highlight>
            </a:endParaRPr>
          </a:p>
          <a:p>
            <a:pPr indent="-295275" lvl="0" marL="457200" rtl="0" algn="l">
              <a:lnSpc>
                <a:spcPct val="115000"/>
              </a:lnSpc>
              <a:spcBef>
                <a:spcPts val="0"/>
              </a:spcBef>
              <a:spcAft>
                <a:spcPts val="0"/>
              </a:spcAft>
              <a:buClr>
                <a:srgbClr val="D6D3CD"/>
              </a:buClr>
              <a:buSzPts val="1050"/>
              <a:buChar char="●"/>
            </a:pPr>
            <a:r>
              <a:rPr lang="en" sz="1050">
                <a:solidFill>
                  <a:srgbClr val="D6D3CD"/>
                </a:solidFill>
                <a:highlight>
                  <a:srgbClr val="181A1B"/>
                </a:highlight>
              </a:rPr>
              <a:t>Recommendation: Staff patrol schedules should match these peak times</a:t>
            </a:r>
            <a:endParaRPr sz="1050">
              <a:solidFill>
                <a:srgbClr val="D6D3CD"/>
              </a:solidFill>
              <a:highlight>
                <a:srgbClr val="181A1B"/>
              </a:highlight>
            </a:endParaRPr>
          </a:p>
          <a:p>
            <a:pPr indent="0" lvl="0" marL="0" rtl="0" algn="l">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c9c60ea304_1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3c9c60ea304_1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idx="2" type="subTitle"/>
          </p:nvPr>
        </p:nvSpPr>
        <p:spPr>
          <a:xfrm>
            <a:off x="138475" y="228600"/>
            <a:ext cx="2784600" cy="33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Liverpool Museum of Natural History</a:t>
            </a:r>
            <a:endParaRPr>
              <a:latin typeface="Sora"/>
              <a:ea typeface="Sora"/>
              <a:cs typeface="Sora"/>
              <a:sym typeface="Sora"/>
            </a:endParaRPr>
          </a:p>
        </p:txBody>
      </p:sp>
      <p:sp>
        <p:nvSpPr>
          <p:cNvPr id="889" name="Google Shape;889;p51"/>
          <p:cNvSpPr txBox="1"/>
          <p:nvPr>
            <p:ph type="title"/>
          </p:nvPr>
        </p:nvSpPr>
        <p:spPr>
          <a:xfrm>
            <a:off x="74600" y="2891050"/>
            <a:ext cx="85566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Museum Visitor Insights</a:t>
            </a:r>
            <a:endParaRPr>
              <a:solidFill>
                <a:schemeClr val="dk2"/>
              </a:solidFill>
            </a:endParaRPr>
          </a:p>
        </p:txBody>
      </p:sp>
      <p:sp>
        <p:nvSpPr>
          <p:cNvPr id="890" name="Google Shape;890;p51"/>
          <p:cNvSpPr txBox="1"/>
          <p:nvPr>
            <p:ph idx="1" type="subTitle"/>
          </p:nvPr>
        </p:nvSpPr>
        <p:spPr>
          <a:xfrm>
            <a:off x="138475" y="4173125"/>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Smiley Face Survey Kiosks</a:t>
            </a:r>
            <a:endParaRPr>
              <a:latin typeface="Sora"/>
              <a:ea typeface="Sora"/>
              <a:cs typeface="Sora"/>
              <a:sym typeface="Sora"/>
            </a:endParaRPr>
          </a:p>
          <a:p>
            <a:pPr indent="0" lvl="0" marL="0" rtl="0" algn="l">
              <a:spcBef>
                <a:spcPts val="0"/>
              </a:spcBef>
              <a:spcAft>
                <a:spcPts val="0"/>
              </a:spcAft>
              <a:buNone/>
            </a:pPr>
            <a:r>
              <a:rPr lang="en">
                <a:latin typeface="Sora"/>
                <a:ea typeface="Sora"/>
                <a:cs typeface="Sora"/>
                <a:sym typeface="Sora"/>
              </a:rPr>
              <a:t>Feb 2026</a:t>
            </a:r>
            <a:endParaRPr>
              <a:latin typeface="Sora"/>
              <a:ea typeface="Sora"/>
              <a:cs typeface="Sora"/>
              <a:sym typeface="Sora"/>
            </a:endParaRPr>
          </a:p>
        </p:txBody>
      </p:sp>
      <p:pic>
        <p:nvPicPr>
          <p:cNvPr id="891" name="Google Shape;891;p51"/>
          <p:cNvPicPr preferRelativeResize="0"/>
          <p:nvPr/>
        </p:nvPicPr>
        <p:blipFill>
          <a:blip r:embed="rId3">
            <a:alphaModFix/>
          </a:blip>
          <a:stretch>
            <a:fillRect/>
          </a:stretch>
        </p:blipFill>
        <p:spPr>
          <a:xfrm>
            <a:off x="332201" y="692856"/>
            <a:ext cx="4728386" cy="2644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52"/>
          <p:cNvSpPr txBox="1"/>
          <p:nvPr>
            <p:ph idx="3" type="title"/>
          </p:nvPr>
        </p:nvSpPr>
        <p:spPr>
          <a:xfrm>
            <a:off x="115025" y="393150"/>
            <a:ext cx="4208700" cy="729600"/>
          </a:xfrm>
          <a:prstGeom prst="rect">
            <a:avLst/>
          </a:prstGeom>
        </p:spPr>
        <p:txBody>
          <a:bodyPr anchorCtr="0" anchor="t" bIns="97625" lIns="97625" spcFirstLastPara="1" rIns="97625" wrap="square" tIns="97625">
            <a:spAutoFit/>
          </a:bodyPr>
          <a:lstStyle/>
          <a:p>
            <a:pPr indent="0" lvl="0" marL="0" rtl="0" algn="l">
              <a:spcBef>
                <a:spcPts val="0"/>
              </a:spcBef>
              <a:spcAft>
                <a:spcPts val="0"/>
              </a:spcAft>
              <a:buNone/>
            </a:pPr>
            <a:r>
              <a:rPr lang="en" sz="3843"/>
              <a:t>Contents</a:t>
            </a:r>
            <a:endParaRPr sz="3843"/>
          </a:p>
        </p:txBody>
      </p:sp>
      <p:sp>
        <p:nvSpPr>
          <p:cNvPr id="897" name="Google Shape;897;p5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Liverpool Museum of Natural History</a:t>
            </a:r>
            <a:endParaRPr/>
          </a:p>
        </p:txBody>
      </p:sp>
      <p:sp>
        <p:nvSpPr>
          <p:cNvPr id="898" name="Google Shape;898;p52"/>
          <p:cNvSpPr txBox="1"/>
          <p:nvPr>
            <p:ph idx="5" type="subTitle"/>
          </p:nvPr>
        </p:nvSpPr>
        <p:spPr>
          <a:xfrm>
            <a:off x="2986325" y="3625676"/>
            <a:ext cx="1865400" cy="249900"/>
          </a:xfrm>
          <a:prstGeom prst="rect">
            <a:avLst/>
          </a:prstGeom>
        </p:spPr>
        <p:txBody>
          <a:bodyPr anchorCtr="0" anchor="t" bIns="115150" lIns="0" spcFirstLastPara="1" rIns="115150" wrap="square" tIns="0">
            <a:noAutofit/>
          </a:bodyPr>
          <a:lstStyle/>
          <a:p>
            <a:pPr indent="0" lvl="0" marL="0" rtl="0" algn="l">
              <a:spcBef>
                <a:spcPts val="0"/>
              </a:spcBef>
              <a:spcAft>
                <a:spcPts val="0"/>
              </a:spcAft>
              <a:buNone/>
            </a:pPr>
            <a:r>
              <a:rPr b="0" lang="en" sz="1763"/>
              <a:t>5</a:t>
            </a:r>
            <a:r>
              <a:rPr b="0" lang="en" sz="1763"/>
              <a:t>.</a:t>
            </a:r>
            <a:endParaRPr b="0" sz="1763"/>
          </a:p>
        </p:txBody>
      </p:sp>
      <p:sp>
        <p:nvSpPr>
          <p:cNvPr id="899" name="Google Shape;899;p52"/>
          <p:cNvSpPr txBox="1"/>
          <p:nvPr>
            <p:ph idx="6" type="subTitle"/>
          </p:nvPr>
        </p:nvSpPr>
        <p:spPr>
          <a:xfrm>
            <a:off x="2986325" y="3246677"/>
            <a:ext cx="5003100" cy="349200"/>
          </a:xfrm>
          <a:prstGeom prst="rect">
            <a:avLst/>
          </a:prstGeom>
        </p:spPr>
        <p:txBody>
          <a:bodyPr anchorCtr="0" anchor="b" bIns="115150" lIns="0" spcFirstLastPara="1" rIns="115150" wrap="square" tIns="0">
            <a:noAutofit/>
          </a:bodyPr>
          <a:lstStyle/>
          <a:p>
            <a:pPr indent="0" lvl="0" marL="0" rtl="0" algn="l">
              <a:spcBef>
                <a:spcPts val="0"/>
              </a:spcBef>
              <a:spcAft>
                <a:spcPts val="0"/>
              </a:spcAft>
              <a:buNone/>
            </a:pPr>
            <a:r>
              <a:rPr lang="en" sz="1259"/>
              <a:t>A summary of your findings from the analysis notebook</a:t>
            </a:r>
            <a:endParaRPr sz="1259"/>
          </a:p>
        </p:txBody>
      </p:sp>
      <p:sp>
        <p:nvSpPr>
          <p:cNvPr id="900" name="Google Shape;900;p52"/>
          <p:cNvSpPr txBox="1"/>
          <p:nvPr>
            <p:ph idx="7" type="subTitle"/>
          </p:nvPr>
        </p:nvSpPr>
        <p:spPr>
          <a:xfrm>
            <a:off x="2986325" y="2953399"/>
            <a:ext cx="1865400" cy="249900"/>
          </a:xfrm>
          <a:prstGeom prst="rect">
            <a:avLst/>
          </a:prstGeom>
        </p:spPr>
        <p:txBody>
          <a:bodyPr anchorCtr="0" anchor="t" bIns="115150" lIns="0" spcFirstLastPara="1" rIns="115150" wrap="square" tIns="0">
            <a:noAutofit/>
          </a:bodyPr>
          <a:lstStyle/>
          <a:p>
            <a:pPr indent="0" lvl="0" marL="0" rtl="0" algn="l">
              <a:spcBef>
                <a:spcPts val="0"/>
              </a:spcBef>
              <a:spcAft>
                <a:spcPts val="0"/>
              </a:spcAft>
              <a:buNone/>
            </a:pPr>
            <a:r>
              <a:rPr b="0" lang="en" sz="1763"/>
              <a:t>4</a:t>
            </a:r>
            <a:r>
              <a:rPr b="0" lang="en" sz="1763"/>
              <a:t>.</a:t>
            </a:r>
            <a:endParaRPr b="0" sz="1763"/>
          </a:p>
        </p:txBody>
      </p:sp>
      <p:sp>
        <p:nvSpPr>
          <p:cNvPr id="901" name="Google Shape;901;p52"/>
          <p:cNvSpPr txBox="1"/>
          <p:nvPr>
            <p:ph idx="8" type="subTitle"/>
          </p:nvPr>
        </p:nvSpPr>
        <p:spPr>
          <a:xfrm>
            <a:off x="2986325" y="2604202"/>
            <a:ext cx="5003100" cy="349200"/>
          </a:xfrm>
          <a:prstGeom prst="rect">
            <a:avLst/>
          </a:prstGeom>
        </p:spPr>
        <p:txBody>
          <a:bodyPr anchorCtr="0" anchor="b" bIns="115150" lIns="0" spcFirstLastPara="1" rIns="115150" wrap="square" tIns="0">
            <a:noAutofit/>
          </a:bodyPr>
          <a:lstStyle/>
          <a:p>
            <a:pPr indent="0" lvl="0" marL="0" rtl="0" algn="l">
              <a:spcBef>
                <a:spcPts val="0"/>
              </a:spcBef>
              <a:spcAft>
                <a:spcPts val="0"/>
              </a:spcAft>
              <a:buNone/>
            </a:pPr>
            <a:r>
              <a:rPr lang="en" sz="1259"/>
              <a:t>Key Considerations and Decisions</a:t>
            </a:r>
            <a:endParaRPr sz="1259"/>
          </a:p>
        </p:txBody>
      </p:sp>
      <p:sp>
        <p:nvSpPr>
          <p:cNvPr id="902" name="Google Shape;902;p52"/>
          <p:cNvSpPr txBox="1"/>
          <p:nvPr>
            <p:ph idx="9" type="subTitle"/>
          </p:nvPr>
        </p:nvSpPr>
        <p:spPr>
          <a:xfrm>
            <a:off x="2986325" y="2171613"/>
            <a:ext cx="1865400" cy="249900"/>
          </a:xfrm>
          <a:prstGeom prst="rect">
            <a:avLst/>
          </a:prstGeom>
        </p:spPr>
        <p:txBody>
          <a:bodyPr anchorCtr="0" anchor="t" bIns="115150" lIns="0" spcFirstLastPara="1" rIns="115150" wrap="square" tIns="0">
            <a:noAutofit/>
          </a:bodyPr>
          <a:lstStyle/>
          <a:p>
            <a:pPr indent="0" lvl="0" marL="0" rtl="0" algn="l">
              <a:spcBef>
                <a:spcPts val="0"/>
              </a:spcBef>
              <a:spcAft>
                <a:spcPts val="0"/>
              </a:spcAft>
              <a:buNone/>
            </a:pPr>
            <a:r>
              <a:rPr b="0" lang="en" sz="1763"/>
              <a:t>3.</a:t>
            </a:r>
            <a:endParaRPr b="0" sz="1763"/>
          </a:p>
        </p:txBody>
      </p:sp>
      <p:sp>
        <p:nvSpPr>
          <p:cNvPr id="903" name="Google Shape;903;p52"/>
          <p:cNvSpPr txBox="1"/>
          <p:nvPr>
            <p:ph idx="13" type="subTitle"/>
          </p:nvPr>
        </p:nvSpPr>
        <p:spPr>
          <a:xfrm>
            <a:off x="2986325" y="1794077"/>
            <a:ext cx="5003100" cy="349200"/>
          </a:xfrm>
          <a:prstGeom prst="rect">
            <a:avLst/>
          </a:prstGeom>
        </p:spPr>
        <p:txBody>
          <a:bodyPr anchorCtr="0" anchor="b" bIns="115150" lIns="0" spcFirstLastPara="1" rIns="115150" wrap="square" tIns="0">
            <a:noAutofit/>
          </a:bodyPr>
          <a:lstStyle/>
          <a:p>
            <a:pPr indent="0" lvl="0" marL="0" rtl="0" algn="l">
              <a:spcBef>
                <a:spcPts val="0"/>
              </a:spcBef>
              <a:spcAft>
                <a:spcPts val="0"/>
              </a:spcAft>
              <a:buNone/>
            </a:pPr>
            <a:r>
              <a:rPr lang="en" sz="1259"/>
              <a:t>A summary of your approach and the decisions you made</a:t>
            </a:r>
            <a:endParaRPr sz="1259"/>
          </a:p>
        </p:txBody>
      </p:sp>
      <p:sp>
        <p:nvSpPr>
          <p:cNvPr id="904" name="Google Shape;904;p52"/>
          <p:cNvSpPr txBox="1"/>
          <p:nvPr>
            <p:ph idx="14" type="subTitle"/>
          </p:nvPr>
        </p:nvSpPr>
        <p:spPr>
          <a:xfrm>
            <a:off x="2986325" y="1500799"/>
            <a:ext cx="1865400" cy="249900"/>
          </a:xfrm>
          <a:prstGeom prst="rect">
            <a:avLst/>
          </a:prstGeom>
        </p:spPr>
        <p:txBody>
          <a:bodyPr anchorCtr="0" anchor="t" bIns="115150" lIns="0" spcFirstLastPara="1" rIns="115150" wrap="square" tIns="0">
            <a:noAutofit/>
          </a:bodyPr>
          <a:lstStyle/>
          <a:p>
            <a:pPr indent="0" lvl="0" marL="0" rtl="0" algn="l">
              <a:spcBef>
                <a:spcPts val="0"/>
              </a:spcBef>
              <a:spcAft>
                <a:spcPts val="0"/>
              </a:spcAft>
              <a:buNone/>
            </a:pPr>
            <a:r>
              <a:rPr b="0" lang="en" sz="1763"/>
              <a:t>2</a:t>
            </a:r>
            <a:r>
              <a:rPr b="0" lang="en" sz="1763"/>
              <a:t>.</a:t>
            </a:r>
            <a:endParaRPr b="0" sz="1763"/>
          </a:p>
        </p:txBody>
      </p:sp>
      <p:sp>
        <p:nvSpPr>
          <p:cNvPr id="905" name="Google Shape;905;p52"/>
          <p:cNvSpPr txBox="1"/>
          <p:nvPr>
            <p:ph idx="15" type="subTitle"/>
          </p:nvPr>
        </p:nvSpPr>
        <p:spPr>
          <a:xfrm>
            <a:off x="2986325" y="1123264"/>
            <a:ext cx="5003100" cy="349200"/>
          </a:xfrm>
          <a:prstGeom prst="rect">
            <a:avLst/>
          </a:prstGeom>
        </p:spPr>
        <p:txBody>
          <a:bodyPr anchorCtr="0" anchor="b" bIns="115150" lIns="0" spcFirstLastPara="1" rIns="115150" wrap="square" tIns="0">
            <a:noAutofit/>
          </a:bodyPr>
          <a:lstStyle/>
          <a:p>
            <a:pPr indent="0" lvl="0" marL="0" rtl="0" algn="l">
              <a:spcBef>
                <a:spcPts val="0"/>
              </a:spcBef>
              <a:spcAft>
                <a:spcPts val="0"/>
              </a:spcAft>
              <a:buNone/>
            </a:pPr>
            <a:r>
              <a:rPr lang="en" sz="1259"/>
              <a:t>An overview of the project and its goals</a:t>
            </a:r>
            <a:endParaRPr sz="1259"/>
          </a:p>
        </p:txBody>
      </p:sp>
      <p:sp>
        <p:nvSpPr>
          <p:cNvPr id="906" name="Google Shape;906;p52"/>
          <p:cNvSpPr txBox="1"/>
          <p:nvPr>
            <p:ph idx="16" type="subTitle"/>
          </p:nvPr>
        </p:nvSpPr>
        <p:spPr>
          <a:xfrm>
            <a:off x="2986325" y="829985"/>
            <a:ext cx="1865400" cy="249900"/>
          </a:xfrm>
          <a:prstGeom prst="rect">
            <a:avLst/>
          </a:prstGeom>
        </p:spPr>
        <p:txBody>
          <a:bodyPr anchorCtr="0" anchor="t" bIns="115150" lIns="0" spcFirstLastPara="1" rIns="115150" wrap="square" tIns="0">
            <a:noAutofit/>
          </a:bodyPr>
          <a:lstStyle/>
          <a:p>
            <a:pPr indent="0" lvl="0" marL="0" rtl="0" algn="l">
              <a:spcBef>
                <a:spcPts val="0"/>
              </a:spcBef>
              <a:spcAft>
                <a:spcPts val="0"/>
              </a:spcAft>
              <a:buNone/>
            </a:pPr>
            <a:r>
              <a:rPr b="0" lang="en" sz="1763"/>
              <a:t>1</a:t>
            </a:r>
            <a:r>
              <a:rPr b="0" lang="en" sz="1763"/>
              <a:t>.</a:t>
            </a:r>
            <a:endParaRPr b="0" sz="1763"/>
          </a:p>
        </p:txBody>
      </p:sp>
      <p:sp>
        <p:nvSpPr>
          <p:cNvPr id="907" name="Google Shape;907;p52"/>
          <p:cNvSpPr txBox="1"/>
          <p:nvPr>
            <p:ph idx="4" type="subTitle"/>
          </p:nvPr>
        </p:nvSpPr>
        <p:spPr>
          <a:xfrm>
            <a:off x="2986325" y="3918955"/>
            <a:ext cx="5003100" cy="349200"/>
          </a:xfrm>
          <a:prstGeom prst="rect">
            <a:avLst/>
          </a:prstGeom>
        </p:spPr>
        <p:txBody>
          <a:bodyPr anchorCtr="0" anchor="b" bIns="115150" lIns="115150" spcFirstLastPara="1" rIns="115150" wrap="square" tIns="115150">
            <a:noAutofit/>
          </a:bodyPr>
          <a:lstStyle/>
          <a:p>
            <a:pPr indent="0" lvl="0" marL="0" rtl="0" algn="l">
              <a:spcBef>
                <a:spcPts val="0"/>
              </a:spcBef>
              <a:spcAft>
                <a:spcPts val="0"/>
              </a:spcAft>
              <a:buNone/>
            </a:pPr>
            <a:r>
              <a:rPr lang="en" sz="1259"/>
              <a:t>Any next steps or future work you would recommend</a:t>
            </a:r>
            <a:endParaRPr sz="1259"/>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pic>
        <p:nvPicPr>
          <p:cNvPr descr="Beautify this slide" id="912" name="Google Shape;912;p5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pic>
        <p:nvPicPr>
          <p:cNvPr descr="Slide 2: Our Approach&#10;&#10;Collected visitor feedback data (ratings, assistance requests)&#10;Built automated system to process and store data securely in cloud&#10;Analyzed patterns to answer your key questions" id="917" name="Google Shape;917;p5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pic>
        <p:nvPicPr>
          <p:cNvPr descr="Do this with minimal text:&#10;Beautify this slide&#10;Slide 3: Key Considerations &amp; Decisions Data Validation: Built in checks to catch missing values and incorrect formats before loading - ensuring only clean data enters the database Scalability: Designed the pipeline to handle multiple exhibition files and flexible data sources using command-line arguments Security: Kept passwords and credentials out of code using environment variables - important for real-world deployments Repeatability: Used infrastructure-as-code (Terraform) so the entire database can be recreated identically if needed" id="922" name="Google Shape;922;p5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56"/>
          <p:cNvSpPr txBox="1"/>
          <p:nvPr>
            <p:ph idx="2" type="subTitle"/>
          </p:nvPr>
        </p:nvSpPr>
        <p:spPr>
          <a:xfrm>
            <a:off x="138475" y="228600"/>
            <a:ext cx="2784600" cy="33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Liverpool Museum of Natural History</a:t>
            </a:r>
            <a:endParaRPr>
              <a:latin typeface="Sora"/>
              <a:ea typeface="Sora"/>
              <a:cs typeface="Sora"/>
              <a:sym typeface="Sora"/>
            </a:endParaRPr>
          </a:p>
        </p:txBody>
      </p:sp>
      <p:sp>
        <p:nvSpPr>
          <p:cNvPr id="928" name="Google Shape;928;p56"/>
          <p:cNvSpPr txBox="1"/>
          <p:nvPr>
            <p:ph type="title"/>
          </p:nvPr>
        </p:nvSpPr>
        <p:spPr>
          <a:xfrm>
            <a:off x="74600" y="2891050"/>
            <a:ext cx="85566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Key</a:t>
            </a:r>
            <a:r>
              <a:rPr lang="en">
                <a:solidFill>
                  <a:schemeClr val="dk2"/>
                </a:solidFill>
              </a:rPr>
              <a:t> Findings</a:t>
            </a:r>
            <a:endParaRPr>
              <a:solidFill>
                <a:schemeClr val="dk2"/>
              </a:solidFill>
            </a:endParaRPr>
          </a:p>
        </p:txBody>
      </p:sp>
      <p:sp>
        <p:nvSpPr>
          <p:cNvPr id="929" name="Google Shape;929;p56"/>
          <p:cNvSpPr txBox="1"/>
          <p:nvPr>
            <p:ph idx="1" type="subTitle"/>
          </p:nvPr>
        </p:nvSpPr>
        <p:spPr>
          <a:xfrm>
            <a:off x="138475" y="4173125"/>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Smiley Face Survey Kiosks</a:t>
            </a:r>
            <a:endParaRPr>
              <a:latin typeface="Sora"/>
              <a:ea typeface="Sora"/>
              <a:cs typeface="Sora"/>
              <a:sym typeface="Sora"/>
            </a:endParaRPr>
          </a:p>
          <a:p>
            <a:pPr indent="0" lvl="0" marL="0" rtl="0" algn="l">
              <a:spcBef>
                <a:spcPts val="0"/>
              </a:spcBef>
              <a:spcAft>
                <a:spcPts val="0"/>
              </a:spcAft>
              <a:buNone/>
            </a:pPr>
            <a:r>
              <a:rPr lang="en">
                <a:latin typeface="Sora"/>
                <a:ea typeface="Sora"/>
                <a:cs typeface="Sora"/>
                <a:sym typeface="Sora"/>
              </a:rPr>
              <a:t>Feb 2026</a:t>
            </a:r>
            <a:endParaRPr>
              <a:latin typeface="Sora"/>
              <a:ea typeface="Sora"/>
              <a:cs typeface="Sora"/>
              <a:sym typeface="S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pic>
        <p:nvPicPr>
          <p:cNvPr id="934" name="Google Shape;934;p57"/>
          <p:cNvPicPr preferRelativeResize="0"/>
          <p:nvPr/>
        </p:nvPicPr>
        <p:blipFill>
          <a:blip r:embed="rId3">
            <a:alphaModFix/>
          </a:blip>
          <a:stretch>
            <a:fillRect/>
          </a:stretch>
        </p:blipFill>
        <p:spPr>
          <a:xfrm>
            <a:off x="228599" y="3243900"/>
            <a:ext cx="7820675" cy="1493300"/>
          </a:xfrm>
          <a:prstGeom prst="rect">
            <a:avLst/>
          </a:prstGeom>
          <a:noFill/>
          <a:ln>
            <a:noFill/>
          </a:ln>
        </p:spPr>
      </p:pic>
      <p:sp>
        <p:nvSpPr>
          <p:cNvPr id="935" name="Google Shape;935;p57"/>
          <p:cNvSpPr txBox="1"/>
          <p:nvPr>
            <p:ph idx="2" type="subTitle"/>
          </p:nvPr>
        </p:nvSpPr>
        <p:spPr>
          <a:xfrm>
            <a:off x="58650" y="4737200"/>
            <a:ext cx="9120600" cy="580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 Cetacean Sensations: Visitors love it (Amazing)     </a:t>
            </a:r>
            <a:r>
              <a:rPr lang="en">
                <a:latin typeface="Sora"/>
                <a:ea typeface="Sora"/>
                <a:cs typeface="Sora"/>
                <a:sym typeface="Sora"/>
              </a:rPr>
              <a:t>😐 </a:t>
            </a:r>
            <a:r>
              <a:rPr lang="en">
                <a:latin typeface="Sora"/>
                <a:ea typeface="Sora"/>
                <a:cs typeface="Sora"/>
                <a:sym typeface="Sora"/>
              </a:rPr>
              <a:t>Our Polluted World &amp; Adaptation: Most common is Bad - action needed</a:t>
            </a:r>
            <a:endParaRPr>
              <a:latin typeface="Sora"/>
              <a:ea typeface="Sora"/>
              <a:cs typeface="Sora"/>
              <a:sym typeface="Sora"/>
            </a:endParaRPr>
          </a:p>
        </p:txBody>
      </p:sp>
      <p:sp>
        <p:nvSpPr>
          <p:cNvPr id="936" name="Google Shape;936;p57"/>
          <p:cNvSpPr txBox="1"/>
          <p:nvPr>
            <p:ph type="title"/>
          </p:nvPr>
        </p:nvSpPr>
        <p:spPr>
          <a:xfrm>
            <a:off x="58650" y="-823775"/>
            <a:ext cx="85566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700">
                <a:solidFill>
                  <a:schemeClr val="dk2"/>
                </a:solidFill>
              </a:rPr>
              <a:t>Visitor Experience</a:t>
            </a:r>
            <a:endParaRPr sz="3700">
              <a:solidFill>
                <a:schemeClr val="dk2"/>
              </a:solidFill>
            </a:endParaRPr>
          </a:p>
        </p:txBody>
      </p:sp>
      <p:pic>
        <p:nvPicPr>
          <p:cNvPr id="937" name="Google Shape;937;p57"/>
          <p:cNvPicPr preferRelativeResize="0"/>
          <p:nvPr/>
        </p:nvPicPr>
        <p:blipFill>
          <a:blip r:embed="rId4">
            <a:alphaModFix/>
          </a:blip>
          <a:stretch>
            <a:fillRect/>
          </a:stretch>
        </p:blipFill>
        <p:spPr>
          <a:xfrm>
            <a:off x="275475" y="564425"/>
            <a:ext cx="4144887" cy="2568050"/>
          </a:xfrm>
          <a:prstGeom prst="rect">
            <a:avLst/>
          </a:prstGeom>
          <a:noFill/>
          <a:ln>
            <a:noFill/>
          </a:ln>
        </p:spPr>
      </p:pic>
      <p:pic>
        <p:nvPicPr>
          <p:cNvPr id="938" name="Google Shape;938;p57"/>
          <p:cNvPicPr preferRelativeResize="0"/>
          <p:nvPr/>
        </p:nvPicPr>
        <p:blipFill>
          <a:blip r:embed="rId5">
            <a:alphaModFix/>
          </a:blip>
          <a:stretch>
            <a:fillRect/>
          </a:stretch>
        </p:blipFill>
        <p:spPr>
          <a:xfrm>
            <a:off x="4740075" y="95700"/>
            <a:ext cx="4064600" cy="3036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58"/>
          <p:cNvSpPr txBox="1"/>
          <p:nvPr/>
        </p:nvSpPr>
        <p:spPr>
          <a:xfrm>
            <a:off x="7158275" y="1233425"/>
            <a:ext cx="885900" cy="26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Sora"/>
              <a:ea typeface="Sora"/>
              <a:cs typeface="Sora"/>
              <a:sym typeface="Sora"/>
            </a:endParaRPr>
          </a:p>
        </p:txBody>
      </p:sp>
      <p:sp>
        <p:nvSpPr>
          <p:cNvPr id="944" name="Google Shape;944;p58"/>
          <p:cNvSpPr txBox="1"/>
          <p:nvPr/>
        </p:nvSpPr>
        <p:spPr>
          <a:xfrm>
            <a:off x="164100" y="228600"/>
            <a:ext cx="5981100" cy="9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700">
                <a:solidFill>
                  <a:schemeClr val="dk2"/>
                </a:solidFill>
              </a:rPr>
              <a:t>Visitor Safety:</a:t>
            </a:r>
            <a:r>
              <a:rPr lang="en" sz="1000">
                <a:solidFill>
                  <a:schemeClr val="dk2"/>
                </a:solidFill>
              </a:rPr>
              <a:t> </a:t>
            </a:r>
            <a:endParaRPr sz="1000">
              <a:solidFill>
                <a:schemeClr val="dk2"/>
              </a:solidFill>
            </a:endParaRPr>
          </a:p>
          <a:p>
            <a:pPr indent="457200" lvl="0" marL="0" rtl="0" algn="l">
              <a:spcBef>
                <a:spcPts val="0"/>
              </a:spcBef>
              <a:spcAft>
                <a:spcPts val="0"/>
              </a:spcAft>
              <a:buNone/>
            </a:pPr>
            <a:r>
              <a:rPr lang="en" sz="1100">
                <a:solidFill>
                  <a:schemeClr val="dk2"/>
                </a:solidFill>
              </a:rPr>
              <a:t>When &amp; Where Help Is Needed</a:t>
            </a:r>
            <a:endParaRPr sz="200">
              <a:solidFill>
                <a:schemeClr val="lt1"/>
              </a:solidFill>
              <a:latin typeface="Sora"/>
              <a:ea typeface="Sora"/>
              <a:cs typeface="Sora"/>
              <a:sym typeface="Sora"/>
            </a:endParaRPr>
          </a:p>
        </p:txBody>
      </p:sp>
      <p:pic>
        <p:nvPicPr>
          <p:cNvPr id="945" name="Google Shape;945;p58"/>
          <p:cNvPicPr preferRelativeResize="0"/>
          <p:nvPr/>
        </p:nvPicPr>
        <p:blipFill>
          <a:blip r:embed="rId3">
            <a:alphaModFix/>
          </a:blip>
          <a:stretch>
            <a:fillRect/>
          </a:stretch>
        </p:blipFill>
        <p:spPr>
          <a:xfrm>
            <a:off x="4902150" y="225925"/>
            <a:ext cx="4241850" cy="3096509"/>
          </a:xfrm>
          <a:prstGeom prst="rect">
            <a:avLst/>
          </a:prstGeom>
          <a:noFill/>
          <a:ln>
            <a:noFill/>
          </a:ln>
        </p:spPr>
      </p:pic>
      <p:sp>
        <p:nvSpPr>
          <p:cNvPr id="946" name="Google Shape;946;p58"/>
          <p:cNvSpPr txBox="1"/>
          <p:nvPr>
            <p:ph idx="2" type="subTitle"/>
          </p:nvPr>
        </p:nvSpPr>
        <p:spPr>
          <a:xfrm>
            <a:off x="4902150" y="3429727"/>
            <a:ext cx="4167000" cy="511800"/>
          </a:xfrm>
          <a:prstGeom prst="rect">
            <a:avLst/>
          </a:prstGeom>
          <a:solidFill>
            <a:schemeClr val="lt1"/>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 Cetacean Sensations has most assistance requests (7) </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 Adaptation has fewest incidents (1)</a:t>
            </a:r>
            <a:endParaRPr>
              <a:latin typeface="Sora"/>
              <a:ea typeface="Sora"/>
              <a:cs typeface="Sora"/>
              <a:sym typeface="Sora"/>
            </a:endParaRPr>
          </a:p>
          <a:p>
            <a:pPr indent="0" lvl="0" marL="0" rtl="0" algn="l">
              <a:lnSpc>
                <a:spcPct val="115000"/>
              </a:lnSpc>
              <a:spcBef>
                <a:spcPts val="0"/>
              </a:spcBef>
              <a:spcAft>
                <a:spcPts val="0"/>
              </a:spcAft>
              <a:buNone/>
            </a:pPr>
            <a:r>
              <a:t/>
            </a:r>
            <a:endParaRPr>
              <a:latin typeface="Sora"/>
              <a:ea typeface="Sora"/>
              <a:cs typeface="Sora"/>
              <a:sym typeface="Sora"/>
            </a:endParaRPr>
          </a:p>
        </p:txBody>
      </p:sp>
      <p:pic>
        <p:nvPicPr>
          <p:cNvPr descr="Beautify this slide" id="947" name="Google Shape;947;p58"/>
          <p:cNvPicPr preferRelativeResize="0"/>
          <p:nvPr/>
        </p:nvPicPr>
        <p:blipFill>
          <a:blip r:embed="rId4">
            <a:alphaModFix/>
          </a:blip>
          <a:stretch>
            <a:fillRect/>
          </a:stretch>
        </p:blipFill>
        <p:spPr>
          <a:xfrm>
            <a:off x="64487" y="1503875"/>
            <a:ext cx="4718416" cy="2634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pic>
        <p:nvPicPr>
          <p:cNvPr descr="Beautify this slide" id="952" name="Google Shape;952;p5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